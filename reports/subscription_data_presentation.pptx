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8.xml" ContentType="application/vnd.openxmlformats-officedocument.presentationml.notesSlide+xml"/>
  <Override PartName="/ppt/charts/chart6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78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napToObjects="1">
      <p:cViewPr varScale="1">
        <p:scale>
          <a:sx n="63" d="100"/>
          <a:sy n="63" d="100"/>
        </p:scale>
        <p:origin x="4362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Facebook Ad</c:v>
                </c:pt>
              </c:strCache>
            </c:strRef>
          </c:tx>
          <c:spPr>
            <a:ln w="34925" cap="flat">
              <a:solidFill>
                <a:srgbClr val="1C7293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1C7293"/>
              </a:solidFill>
              <a:ln w="9525" cap="flat">
                <a:solidFill>
                  <a:srgbClr val="1C7293"/>
                </a:solidFill>
                <a:prstDash val="solid"/>
                <a:round/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104</c:v>
                </c:pt>
                <c:pt idx="1">
                  <c:v>475</c:v>
                </c:pt>
                <c:pt idx="2">
                  <c:v>49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04C-4826-8004-0DFAF06512F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Instagram Ad</c:v>
                </c:pt>
              </c:strCache>
            </c:strRef>
          </c:tx>
          <c:spPr>
            <a:ln w="34925" cap="flat">
              <a:solidFill>
                <a:srgbClr val="F2A541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F2A541"/>
              </a:solidFill>
              <a:ln w="9525" cap="flat">
                <a:solidFill>
                  <a:srgbClr val="F2A541"/>
                </a:solidFill>
                <a:prstDash val="solid"/>
                <a:round/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93</c:v>
                </c:pt>
                <c:pt idx="1">
                  <c:v>247</c:v>
                </c:pt>
                <c:pt idx="2">
                  <c:v>80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04C-4826-8004-0DFAF06512F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Friend</c:v>
                </c:pt>
              </c:strCache>
            </c:strRef>
          </c:tx>
          <c:spPr>
            <a:ln w="34925" cap="flat">
              <a:solidFill>
                <a:srgbClr val="12456B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12456B"/>
              </a:solidFill>
              <a:ln w="9525" cap="flat">
                <a:solidFill>
                  <a:srgbClr val="12456B"/>
                </a:solidFill>
                <a:prstDash val="solid"/>
                <a:round/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129</c:v>
                </c:pt>
                <c:pt idx="1">
                  <c:v>145</c:v>
                </c:pt>
                <c:pt idx="2">
                  <c:v>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04C-4826-8004-0DFAF06512F1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YouTube</c:v>
                </c:pt>
              </c:strCache>
            </c:strRef>
          </c:tx>
          <c:spPr>
            <a:ln w="34925" cap="flat">
              <a:solidFill>
                <a:srgbClr val="6FAF9E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6FAF9E"/>
              </a:solidFill>
              <a:ln w="9525" cap="flat">
                <a:solidFill>
                  <a:srgbClr val="6FAF9E"/>
                </a:solidFill>
                <a:prstDash val="solid"/>
                <a:round/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38</c:v>
                </c:pt>
                <c:pt idx="1">
                  <c:v>119</c:v>
                </c:pt>
                <c:pt idx="2">
                  <c:v>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C04C-4826-8004-0DFAF06512F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B3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9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B2B34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3350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0B3350"/>
                </a:solidFill>
                <a:latin typeface="Arial"/>
              </a:rPr>
              <a:t>Friend's Share of Total Signups by Year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Friend Share of Total (%)</c:v>
                </c:pt>
              </c:strCache>
            </c:strRef>
          </c:tx>
          <c:spPr>
            <a:ln w="38100" cap="flat">
              <a:solidFill>
                <a:srgbClr val="C97F1E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C97F1E"/>
              </a:solidFill>
              <a:ln w="9525" cap="flat">
                <a:solidFill>
                  <a:srgbClr val="C97F1E"/>
                </a:solidFill>
                <a:prstDash val="solid"/>
                <a:round/>
              </a:ln>
              <a:effectLst/>
            </c:spPr>
          </c:marker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B335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27.9</c:v>
                </c:pt>
                <c:pt idx="1">
                  <c:v>12</c:v>
                </c:pt>
                <c:pt idx="2">
                  <c:v>24.5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228-4260-AA2B-44199112F06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B3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5"/>
        </c:scaling>
        <c:delete val="0"/>
        <c:axPos val="l"/>
        <c:majorGridlines>
          <c:spPr>
            <a:ln w="9525" cap="flat">
              <a:solidFill>
                <a:srgbClr val="E3E9EC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Facebook Ad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18-24</c:v>
                </c:pt>
                <c:pt idx="1">
                  <c:v>25-29</c:v>
                </c:pt>
                <c:pt idx="2">
                  <c:v>30-34</c:v>
                </c:pt>
                <c:pt idx="3">
                  <c:v>35-39</c:v>
                </c:pt>
                <c:pt idx="4">
                  <c:v>40-44</c:v>
                </c:pt>
                <c:pt idx="5">
                  <c:v>45-49</c:v>
                </c:pt>
                <c:pt idx="6">
                  <c:v>50-54</c:v>
                </c:pt>
                <c:pt idx="7">
                  <c:v>55-59</c:v>
                </c:pt>
                <c:pt idx="8">
                  <c:v>60-70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57</c:v>
                </c:pt>
                <c:pt idx="1">
                  <c:v>109</c:v>
                </c:pt>
                <c:pt idx="2">
                  <c:v>121</c:v>
                </c:pt>
                <c:pt idx="3">
                  <c:v>125</c:v>
                </c:pt>
                <c:pt idx="4">
                  <c:v>112</c:v>
                </c:pt>
                <c:pt idx="5">
                  <c:v>71</c:v>
                </c:pt>
                <c:pt idx="6">
                  <c:v>24</c:v>
                </c:pt>
                <c:pt idx="7">
                  <c:v>7</c:v>
                </c:pt>
                <c:pt idx="8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E10-4F09-87EB-011810FF5A5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Instagram Ad</c:v>
                </c:pt>
              </c:strCache>
            </c:strRef>
          </c:tx>
          <c:spPr>
            <a:solidFill>
              <a:srgbClr val="F2A541"/>
            </a:solidFill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18-24</c:v>
                </c:pt>
                <c:pt idx="1">
                  <c:v>25-29</c:v>
                </c:pt>
                <c:pt idx="2">
                  <c:v>30-34</c:v>
                </c:pt>
                <c:pt idx="3">
                  <c:v>35-39</c:v>
                </c:pt>
                <c:pt idx="4">
                  <c:v>40-44</c:v>
                </c:pt>
                <c:pt idx="5">
                  <c:v>45-49</c:v>
                </c:pt>
                <c:pt idx="6">
                  <c:v>50-54</c:v>
                </c:pt>
                <c:pt idx="7">
                  <c:v>55-59</c:v>
                </c:pt>
                <c:pt idx="8">
                  <c:v>60-70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45</c:v>
                </c:pt>
                <c:pt idx="1">
                  <c:v>79</c:v>
                </c:pt>
                <c:pt idx="2">
                  <c:v>88</c:v>
                </c:pt>
                <c:pt idx="3">
                  <c:v>85</c:v>
                </c:pt>
                <c:pt idx="4">
                  <c:v>72</c:v>
                </c:pt>
                <c:pt idx="5">
                  <c:v>31</c:v>
                </c:pt>
                <c:pt idx="6">
                  <c:v>15</c:v>
                </c:pt>
                <c:pt idx="7">
                  <c:v>2</c:v>
                </c:pt>
                <c:pt idx="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E10-4F09-87EB-011810FF5A5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Friend</c:v>
                </c:pt>
              </c:strCache>
            </c:strRef>
          </c:tx>
          <c:spPr>
            <a:solidFill>
              <a:srgbClr val="12456B"/>
            </a:solidFill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18-24</c:v>
                </c:pt>
                <c:pt idx="1">
                  <c:v>25-29</c:v>
                </c:pt>
                <c:pt idx="2">
                  <c:v>30-34</c:v>
                </c:pt>
                <c:pt idx="3">
                  <c:v>35-39</c:v>
                </c:pt>
                <c:pt idx="4">
                  <c:v>40-44</c:v>
                </c:pt>
                <c:pt idx="5">
                  <c:v>45-49</c:v>
                </c:pt>
                <c:pt idx="6">
                  <c:v>50-54</c:v>
                </c:pt>
                <c:pt idx="7">
                  <c:v>55-59</c:v>
                </c:pt>
                <c:pt idx="8">
                  <c:v>60-70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18</c:v>
                </c:pt>
                <c:pt idx="1">
                  <c:v>52</c:v>
                </c:pt>
                <c:pt idx="2">
                  <c:v>73</c:v>
                </c:pt>
                <c:pt idx="3">
                  <c:v>73</c:v>
                </c:pt>
                <c:pt idx="4">
                  <c:v>70</c:v>
                </c:pt>
                <c:pt idx="5">
                  <c:v>35</c:v>
                </c:pt>
                <c:pt idx="6">
                  <c:v>15</c:v>
                </c:pt>
                <c:pt idx="7">
                  <c:v>1</c:v>
                </c:pt>
                <c:pt idx="8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E10-4F09-87EB-011810FF5A53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YouTube</c:v>
                </c:pt>
              </c:strCache>
            </c:strRef>
          </c:tx>
          <c:spPr>
            <a:solidFill>
              <a:srgbClr val="6FAF9E"/>
            </a:solidFill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18-24</c:v>
                </c:pt>
                <c:pt idx="1">
                  <c:v>25-29</c:v>
                </c:pt>
                <c:pt idx="2">
                  <c:v>30-34</c:v>
                </c:pt>
                <c:pt idx="3">
                  <c:v>35-39</c:v>
                </c:pt>
                <c:pt idx="4">
                  <c:v>40-44</c:v>
                </c:pt>
                <c:pt idx="5">
                  <c:v>45-49</c:v>
                </c:pt>
                <c:pt idx="6">
                  <c:v>50-54</c:v>
                </c:pt>
                <c:pt idx="7">
                  <c:v>55-59</c:v>
                </c:pt>
                <c:pt idx="8">
                  <c:v>60-70</c:v>
                </c:pt>
              </c:strCache>
            </c:strRef>
          </c:cat>
          <c:val>
            <c:numRef>
              <c:f>Sheet1!$E$2:$E$10</c:f>
              <c:numCache>
                <c:formatCode>General</c:formatCode>
                <c:ptCount val="9"/>
                <c:pt idx="0">
                  <c:v>40</c:v>
                </c:pt>
                <c:pt idx="1">
                  <c:v>28</c:v>
                </c:pt>
                <c:pt idx="2">
                  <c:v>26</c:v>
                </c:pt>
                <c:pt idx="3">
                  <c:v>21</c:v>
                </c:pt>
                <c:pt idx="4">
                  <c:v>18</c:v>
                </c:pt>
                <c:pt idx="5">
                  <c:v>11</c:v>
                </c:pt>
                <c:pt idx="6">
                  <c:v>14</c:v>
                </c:pt>
                <c:pt idx="7">
                  <c:v>6</c:v>
                </c:pt>
                <c:pt idx="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E10-4F09-87EB-011810FF5A5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2B3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9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1B2B34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Male %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66.2</c:v>
                </c:pt>
                <c:pt idx="1">
                  <c:v>66.5</c:v>
                </c:pt>
                <c:pt idx="2">
                  <c:v>67.2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576-488B-8E5F-488BFBFCE83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Female %</c:v>
                </c:pt>
              </c:strCache>
            </c:strRef>
          </c:tx>
          <c:spPr>
            <a:solidFill>
              <a:srgbClr val="F2A541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33.799999999999997</c:v>
                </c:pt>
                <c:pt idx="1">
                  <c:v>33.5</c:v>
                </c:pt>
                <c:pt idx="2">
                  <c:v>32.799999999999997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576-488B-8E5F-488BFBFCE834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B3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B2B34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Male YoY %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1B2B34"/>
                    </a:solidFill>
                    <a:latin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2024</c:v>
                </c:pt>
                <c:pt idx="1">
                  <c:v>2025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163.49</c:v>
                </c:pt>
                <c:pt idx="1">
                  <c:v>-77.28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043-402F-B2AE-4FB73284003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Female YoY %</c:v>
                </c:pt>
              </c:strCache>
            </c:strRef>
          </c:tx>
          <c:spPr>
            <a:solidFill>
              <a:srgbClr val="F2A541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1B2B34"/>
                    </a:solidFill>
                    <a:latin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2024</c:v>
                </c:pt>
                <c:pt idx="1">
                  <c:v>2025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160.65</c:v>
                </c:pt>
                <c:pt idx="1">
                  <c:v>-77.97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043-402F-B2AE-4FB73284003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B3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9EC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B2B34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3350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0B3350"/>
                </a:solidFill>
                <a:latin typeface="Arial"/>
              </a:rPr>
              <a:t>Signups by Education Level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Signups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0B335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First Degree</c:v>
                </c:pt>
                <c:pt idx="1">
                  <c:v>Masters</c:v>
                </c:pt>
                <c:pt idx="2">
                  <c:v>HND</c:v>
                </c:pt>
                <c:pt idx="3">
                  <c:v>Secondary</c:v>
                </c:pt>
                <c:pt idx="4">
                  <c:v>Others</c:v>
                </c:pt>
                <c:pt idx="5">
                  <c:v>OND</c:v>
                </c:pt>
                <c:pt idx="6">
                  <c:v>PhD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826</c:v>
                </c:pt>
                <c:pt idx="1">
                  <c:v>674</c:v>
                </c:pt>
                <c:pt idx="2">
                  <c:v>173</c:v>
                </c:pt>
                <c:pt idx="3">
                  <c:v>129</c:v>
                </c:pt>
                <c:pt idx="4">
                  <c:v>62</c:v>
                </c:pt>
                <c:pt idx="5">
                  <c:v>54</c:v>
                </c:pt>
                <c:pt idx="6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E07-415C-97A5-DA7BEB07D1D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2B3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9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84944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~0:20. Introduce yourself and the project title in one breath, then move. Do not linger on the title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~1:00. Read out the 5 questions fast, then land on: 1,943 records, 20 issues found, only 9 needed fixing. That gap is the headline — set it up now, pay it off on slide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~1:00. This is your best differentiator slide. Say plainly: half the logged issues never got touched because no KPI needed them. That is judgment, not laziness — say it that 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~1:00. Lead with the surprise: Friend actually beat every channel in 2023. Facebook Ad only took over once paid spend scaled in 2024. Keep this one brisk.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~1:10. The whole point: 2024 LOOKS like referral weakened (12%) but raw Friend signups actually rose that year — the total pie just got bigger. Say the share number, then immediately say the raw-count correction, in that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~1:10. State the finding, then the exception: 50-54 is weakest for 3 of 4 channels, YouTube is the outlier at 45-49. Pause after this one, it is the most nuanced slide in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~1:10. Two charts, one story. Point at the top chart: stable ~2:1 split. Point at the bottom: both genders swing together. Land on: these agree, they do not contradict — the swing is about traffic volume, not gender.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~1:00. Say the pairing out loud, not just Nigeria: First Degree and Masters holders, based in Nigeria. Never say Nigeria on its own as the finding — that is the one thing to get right on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~1:30. Your strongest slide. Slow down here. If you are behind schedule, steal time from slides 4 and 8, never from this one. Pick 3-4 of the 6 to speak to directly rather than rushing all six.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~0:30. Mention briefly: all names removed before this presentation, one open question was pending and has since been approved by the data owner. Skip reading the tools table aloud if short on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~0:10. Thank the room, invite questions. If time is very short, this slide can be reached even mid-sentence from slide 9 — it costs nothing to cut slide 10 short to get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3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9174175" y="-2651760"/>
            <a:ext cx="2377440" cy="2377440"/>
          </a:xfrm>
          <a:prstGeom prst="ellipse">
            <a:avLst/>
          </a:prstGeom>
          <a:ln w="17780">
            <a:solidFill>
              <a:srgbClr val="1C729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8607247" y="-3218688"/>
            <a:ext cx="3511296" cy="3511296"/>
          </a:xfrm>
          <a:prstGeom prst="ellipse">
            <a:avLst/>
          </a:prstGeom>
          <a:ln w="17780">
            <a:solidFill>
              <a:srgbClr val="F2A541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8040319" y="-3785616"/>
            <a:ext cx="4645152" cy="4645152"/>
          </a:xfrm>
          <a:prstGeom prst="ellipse">
            <a:avLst/>
          </a:prstGeom>
          <a:ln w="17780">
            <a:solidFill>
              <a:srgbClr val="1C729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7473391" y="-4352544"/>
            <a:ext cx="5779008" cy="5779008"/>
          </a:xfrm>
          <a:prstGeom prst="ellipse">
            <a:avLst/>
          </a:prstGeom>
          <a:ln w="17780">
            <a:solidFill>
              <a:srgbClr val="F2A541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-1371600" y="5303520"/>
            <a:ext cx="1645920" cy="1645920"/>
          </a:xfrm>
          <a:prstGeom prst="ellipse">
            <a:avLst/>
          </a:prstGeom>
          <a:ln w="15240">
            <a:solidFill>
              <a:srgbClr val="1C7293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-1828800" y="4846320"/>
            <a:ext cx="2560320" cy="2560320"/>
          </a:xfrm>
          <a:prstGeom prst="ellipse">
            <a:avLst/>
          </a:prstGeom>
          <a:ln w="15240">
            <a:solidFill>
              <a:srgbClr val="1C7293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-2286000" y="4389120"/>
            <a:ext cx="3474720" cy="3474720"/>
          </a:xfrm>
          <a:prstGeom prst="ellipse">
            <a:avLst/>
          </a:prstGeom>
          <a:ln w="15240">
            <a:solidFill>
              <a:srgbClr val="1C7293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822960" y="21031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ACQUISITION ANALYTICS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2468880"/>
            <a:ext cx="10332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Acquisition KPI Analysis</a:t>
            </a:r>
            <a:endParaRPr lang="en-US" sz="40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3520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B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Quality Audit &amp; 5-KPI Analysis of Channel, Referral &amp; Audience Performance  •  2023 – 2025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822960" y="4114800"/>
            <a:ext cx="1828800" cy="0"/>
          </a:xfrm>
          <a:prstGeom prst="line">
            <a:avLst/>
          </a:prstGeom>
          <a:noFill/>
          <a:ln w="3175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822960" y="525780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50" dirty="0">
                <a:solidFill>
                  <a:srgbClr val="B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 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Team(Group 3)
</a:t>
            </a:r>
            <a:r>
              <a:rPr lang="en-US" sz="1250" dirty="0">
                <a:solidFill>
                  <a:srgbClr val="B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source:  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subscription records (cleaned &amp; de-identified for presentation)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3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Analysis at a Glance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ACQUISITION KPI ANALYSIS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1887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analysis answers 5 specific business questions about how customers are acquired, using 1,943 cleaned subscription records spanning 2023–2025. Every KPI was calculated only after a full data quality audit, and every fix applied was scoped to what these 5 questions actually required — not a general cleanup of the dataset.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2103120"/>
            <a:ext cx="1783080" cy="1737360"/>
          </a:xfrm>
          <a:prstGeom prst="roundRect">
            <a:avLst>
              <a:gd name="adj" fmla="val 4211"/>
            </a:avLst>
          </a:prstGeom>
          <a:solidFill>
            <a:srgbClr val="F4F7F9"/>
          </a:solidFill>
          <a:ln w="12700">
            <a:solidFill>
              <a:srgbClr val="E3E9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57200" y="2103120"/>
            <a:ext cx="1783080" cy="54864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530352" y="2395728"/>
            <a:ext cx="1636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1,943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530352" y="3017520"/>
            <a:ext cx="16367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0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404872" y="2103120"/>
            <a:ext cx="1783080" cy="1737360"/>
          </a:xfrm>
          <a:prstGeom prst="roundRect">
            <a:avLst>
              <a:gd name="adj" fmla="val 4211"/>
            </a:avLst>
          </a:prstGeom>
          <a:solidFill>
            <a:srgbClr val="F4F7F9"/>
          </a:solidFill>
          <a:ln w="12700">
            <a:solidFill>
              <a:srgbClr val="E3E9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2404872" y="2103120"/>
            <a:ext cx="1783080" cy="54864"/>
          </a:xfrm>
          <a:prstGeom prst="rect">
            <a:avLst/>
          </a:prstGeom>
          <a:solidFill>
            <a:srgbClr val="C97F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2478024" y="2395728"/>
            <a:ext cx="1636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7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2478024" y="3017520"/>
            <a:ext cx="16367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10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Logged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352544" y="2103120"/>
            <a:ext cx="1783080" cy="1737360"/>
          </a:xfrm>
          <a:prstGeom prst="roundRect">
            <a:avLst>
              <a:gd name="adj" fmla="val 4211"/>
            </a:avLst>
          </a:prstGeom>
          <a:solidFill>
            <a:srgbClr val="F4F7F9"/>
          </a:solidFill>
          <a:ln w="12700">
            <a:solidFill>
              <a:srgbClr val="E3E9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352544" y="2103120"/>
            <a:ext cx="1783080" cy="54864"/>
          </a:xfrm>
          <a:prstGeom prst="rect">
            <a:avLst/>
          </a:prstGeom>
          <a:solidFill>
            <a:srgbClr val="1245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4425696" y="2395728"/>
            <a:ext cx="1636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245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400" dirty="0"/>
          </a:p>
        </p:txBody>
      </p:sp>
      <p:sp>
        <p:nvSpPr>
          <p:cNvPr id="19" name="Text 16"/>
          <p:cNvSpPr txBox="1"/>
          <p:nvPr/>
        </p:nvSpPr>
        <p:spPr>
          <a:xfrm>
            <a:off x="4425696" y="3017520"/>
            <a:ext cx="16367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In-Scope Fixes</a:t>
            </a:r>
            <a:endParaRPr lang="en-US" sz="10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300216" y="2103120"/>
            <a:ext cx="1783080" cy="1737360"/>
          </a:xfrm>
          <a:prstGeom prst="roundRect">
            <a:avLst>
              <a:gd name="adj" fmla="val 4211"/>
            </a:avLst>
          </a:prstGeom>
          <a:solidFill>
            <a:srgbClr val="F4F7F9"/>
          </a:solidFill>
          <a:ln w="12700">
            <a:solidFill>
              <a:srgbClr val="E3E9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6300216" y="2103120"/>
            <a:ext cx="1783080" cy="54864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6373368" y="2395728"/>
            <a:ext cx="1636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23" name="Text 20"/>
          <p:cNvSpPr txBox="1"/>
          <p:nvPr/>
        </p:nvSpPr>
        <p:spPr>
          <a:xfrm>
            <a:off x="6373368" y="3017520"/>
            <a:ext cx="16367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0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Answered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8247888" y="2103120"/>
            <a:ext cx="1783080" cy="1737360"/>
          </a:xfrm>
          <a:prstGeom prst="roundRect">
            <a:avLst>
              <a:gd name="adj" fmla="val 4211"/>
            </a:avLst>
          </a:prstGeom>
          <a:solidFill>
            <a:srgbClr val="F4F7F9"/>
          </a:solidFill>
          <a:ln w="12700">
            <a:solidFill>
              <a:srgbClr val="E3E9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8247888" y="2103120"/>
            <a:ext cx="1783080" cy="54864"/>
          </a:xfrm>
          <a:prstGeom prst="rect">
            <a:avLst/>
          </a:prstGeom>
          <a:solidFill>
            <a:srgbClr val="C97F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 txBox="1"/>
          <p:nvPr/>
        </p:nvSpPr>
        <p:spPr>
          <a:xfrm>
            <a:off x="8321040" y="2395728"/>
            <a:ext cx="1636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7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400" dirty="0"/>
          </a:p>
        </p:txBody>
      </p:sp>
      <p:sp>
        <p:nvSpPr>
          <p:cNvPr id="27" name="Text 24"/>
          <p:cNvSpPr txBox="1"/>
          <p:nvPr/>
        </p:nvSpPr>
        <p:spPr>
          <a:xfrm>
            <a:off x="8321040" y="3017520"/>
            <a:ext cx="16367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</a:t>
            </a:r>
            <a:endParaRPr lang="en-US" sz="10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10195560" y="2103120"/>
            <a:ext cx="1783080" cy="1737360"/>
          </a:xfrm>
          <a:prstGeom prst="roundRect">
            <a:avLst>
              <a:gd name="adj" fmla="val 4211"/>
            </a:avLst>
          </a:prstGeom>
          <a:solidFill>
            <a:srgbClr val="F4F7F9"/>
          </a:solidFill>
          <a:ln w="12700">
            <a:solidFill>
              <a:srgbClr val="E3E9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10195560" y="2103120"/>
            <a:ext cx="1783080" cy="54864"/>
          </a:xfrm>
          <a:prstGeom prst="rect">
            <a:avLst/>
          </a:prstGeom>
          <a:solidFill>
            <a:srgbClr val="1245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 txBox="1"/>
          <p:nvPr/>
        </p:nvSpPr>
        <p:spPr>
          <a:xfrm>
            <a:off x="10268712" y="2395728"/>
            <a:ext cx="1636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245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31" name="Text 28"/>
          <p:cNvSpPr txBox="1"/>
          <p:nvPr/>
        </p:nvSpPr>
        <p:spPr>
          <a:xfrm>
            <a:off x="10268712" y="3017520"/>
            <a:ext cx="16367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</a:t>
            </a:r>
            <a:endParaRPr lang="en-US" sz="10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457200" y="4114800"/>
            <a:ext cx="11247120" cy="2057400"/>
          </a:xfrm>
          <a:prstGeom prst="roundRect">
            <a:avLst>
              <a:gd name="adj" fmla="val 3556"/>
            </a:avLst>
          </a:prstGeom>
          <a:solidFill>
            <a:srgbClr val="0B33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 txBox="1"/>
          <p:nvPr/>
        </p:nvSpPr>
        <p:spPr>
          <a:xfrm>
            <a:off x="777240" y="431596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 QUESTIONS THIS REPORT ANSWERS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777240" y="4645152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ts val="2000"/>
              </a:lnSpc>
              <a:spcAft>
                <a:spcPts val="500"/>
              </a:spcAft>
              <a:buSzPct val="100000"/>
              <a:buChar char="▸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channels drive the most signups, and how has that shifted year over year?</a:t>
            </a:r>
            <a:endParaRPr lang="en-US" sz="1250" dirty="0"/>
          </a:p>
          <a:p>
            <a:pPr marL="177800" indent="-177800">
              <a:lnSpc>
                <a:spcPts val="2000"/>
              </a:lnSpc>
              <a:spcAft>
                <a:spcPts val="500"/>
              </a:spcAft>
              <a:buSzPct val="100000"/>
              <a:buChar char="▸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referral (word-of-mouth) channel actually significant to the business?</a:t>
            </a:r>
            <a:endParaRPr lang="en-US" sz="1250" dirty="0"/>
          </a:p>
          <a:p>
            <a:pPr marL="177800" indent="-177800">
              <a:lnSpc>
                <a:spcPts val="2000"/>
              </a:lnSpc>
              <a:spcAft>
                <a:spcPts val="500"/>
              </a:spcAft>
              <a:buSzPct val="100000"/>
              <a:buChar char="▸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age range is underrepresented — and does that answer change by channel?</a:t>
            </a:r>
            <a:endParaRPr lang="en-US" sz="1250" dirty="0"/>
          </a:p>
          <a:p>
            <a:pPr marL="177800" indent="-177800">
              <a:lnSpc>
                <a:spcPts val="2000"/>
              </a:lnSpc>
              <a:spcAft>
                <a:spcPts val="500"/>
              </a:spcAft>
              <a:buSzPct val="100000"/>
              <a:buChar char="▸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has the male/female signup split moved annually?</a:t>
            </a:r>
            <a:endParaRPr lang="en-US" sz="1250" dirty="0"/>
          </a:p>
          <a:p>
            <a:pPr marL="177800" indent="-177800">
              <a:lnSpc>
                <a:spcPts val="2000"/>
              </a:lnSpc>
              <a:spcAft>
                <a:spcPts val="500"/>
              </a:spcAft>
              <a:buSzPct val="100000"/>
              <a:buChar char="▸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education levels and countries should the business focus on?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3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Data to Verified KPIs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ACQUISITION KPI ANALYSIS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3630168" cy="4297680"/>
          </a:xfrm>
          <a:prstGeom prst="roundRect">
            <a:avLst>
              <a:gd name="adj" fmla="val 2519"/>
            </a:avLst>
          </a:prstGeom>
          <a:solidFill>
            <a:srgbClr val="F4F7F9"/>
          </a:solidFill>
          <a:ln w="12700">
            <a:solidFill>
              <a:srgbClr val="E3E9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731520" y="16459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331720"/>
            <a:ext cx="3081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731520" y="2788920"/>
            <a:ext cx="3081528" cy="0"/>
          </a:xfrm>
          <a:prstGeom prst="line">
            <a:avLst/>
          </a:prstGeom>
          <a:noFill/>
          <a:ln w="12700">
            <a:solidFill>
              <a:srgbClr val="E3E9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731520" y="2971800"/>
            <a:ext cx="308152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column was profiled for structural issues, placeholder text captured as real answers, blank cells, inconsistent casing, and a customer ID field that wasn’t actually unique. We logged 20 issues, including row counts and severity.</a:t>
            </a:r>
          </a:p>
        </p:txBody>
      </p:sp>
      <p:sp>
        <p:nvSpPr>
          <p:cNvPr id="12" name="Shape 9"/>
          <p:cNvSpPr/>
          <p:nvPr/>
        </p:nvSpPr>
        <p:spPr>
          <a:xfrm>
            <a:off x="4288536" y="1371600"/>
            <a:ext cx="3630168" cy="4297680"/>
          </a:xfrm>
          <a:prstGeom prst="roundRect">
            <a:avLst>
              <a:gd name="adj" fmla="val 2519"/>
            </a:avLst>
          </a:prstGeom>
          <a:solidFill>
            <a:srgbClr val="F4F7F9"/>
          </a:solidFill>
          <a:ln w="12700">
            <a:solidFill>
              <a:srgbClr val="E3E9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4562856" y="16459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97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4" name="Text 11"/>
          <p:cNvSpPr txBox="1"/>
          <p:nvPr/>
        </p:nvSpPr>
        <p:spPr>
          <a:xfrm>
            <a:off x="4562856" y="2331720"/>
            <a:ext cx="3081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to the Brief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4562856" y="2788920"/>
            <a:ext cx="3081528" cy="0"/>
          </a:xfrm>
          <a:prstGeom prst="line">
            <a:avLst/>
          </a:prstGeom>
          <a:noFill/>
          <a:ln w="12700">
            <a:solidFill>
              <a:srgbClr val="E3E9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4562856" y="2971800"/>
            <a:ext cx="308152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every logged issue to the 5 KPIs it actually affects. Roughly half were deferred entirely — an entire cluster of unrelated fields needed zero work because no KPI touched them.</a:t>
            </a:r>
          </a:p>
        </p:txBody>
      </p:sp>
      <p:sp>
        <p:nvSpPr>
          <p:cNvPr id="17" name="Shape 14"/>
          <p:cNvSpPr/>
          <p:nvPr/>
        </p:nvSpPr>
        <p:spPr>
          <a:xfrm>
            <a:off x="8119872" y="1371600"/>
            <a:ext cx="3630168" cy="4297680"/>
          </a:xfrm>
          <a:prstGeom prst="roundRect">
            <a:avLst>
              <a:gd name="adj" fmla="val 2519"/>
            </a:avLst>
          </a:prstGeom>
          <a:solidFill>
            <a:srgbClr val="F4F7F9"/>
          </a:solidFill>
          <a:ln w="12700">
            <a:solidFill>
              <a:srgbClr val="E3E9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8394192" y="16459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45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9" name="Text 16"/>
          <p:cNvSpPr txBox="1"/>
          <p:nvPr/>
        </p:nvSpPr>
        <p:spPr>
          <a:xfrm>
            <a:off x="8394192" y="2331720"/>
            <a:ext cx="3081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&amp; Verify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8394192" y="2788920"/>
            <a:ext cx="3081528" cy="0"/>
          </a:xfrm>
          <a:prstGeom prst="line">
            <a:avLst/>
          </a:prstGeom>
          <a:noFill/>
          <a:ln w="12700">
            <a:solidFill>
              <a:srgbClr val="E3E9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8394192" y="2971800"/>
            <a:ext cx="308152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in-scope fixes were applied as reusable Power Query steps: deduplication, date-window filtering, placeholder recoding, and category standardization. Every fix was checked against a predicted row count before being trusted.</a:t>
            </a:r>
          </a:p>
        </p:txBody>
      </p:sp>
      <p:sp>
        <p:nvSpPr>
          <p:cNvPr id="22" name="Shape 19"/>
          <p:cNvSpPr/>
          <p:nvPr/>
        </p:nvSpPr>
        <p:spPr>
          <a:xfrm>
            <a:off x="457200" y="5806440"/>
            <a:ext cx="11247120" cy="685800"/>
          </a:xfrm>
          <a:prstGeom prst="roundRect">
            <a:avLst>
              <a:gd name="adj" fmla="val 10667"/>
            </a:avLst>
          </a:prstGeom>
          <a:solidFill>
            <a:srgbClr val="F4F7F9"/>
          </a:solidFill>
          <a:ln w="12700">
            <a:solidFill>
              <a:srgbClr val="E3E9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731520" y="580644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2,165 raw rows → 1,943 verified records, modeled identically in both Excel (PivotTables) and a self-contained Power BI report.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1  •  CHANNEL PERFORMANCE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3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Trend of the Top 4 Acquisition Channels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ACQUISITION KPI ANALYSIS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457200" y="1234440"/>
          <a:ext cx="7863840" cy="4709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4"/>
          <p:cNvSpPr/>
          <p:nvPr/>
        </p:nvSpPr>
        <p:spPr>
          <a:xfrm>
            <a:off x="8549640" y="1234440"/>
            <a:ext cx="3154680" cy="4709160"/>
          </a:xfrm>
          <a:prstGeom prst="roundRect">
            <a:avLst>
              <a:gd name="adj" fmla="val 2319"/>
            </a:avLst>
          </a:prstGeom>
          <a:solidFill>
            <a:srgbClr val="0B33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 txBox="1"/>
          <p:nvPr/>
        </p:nvSpPr>
        <p:spPr>
          <a:xfrm>
            <a:off x="8823960" y="14630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TREND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8823960" y="1828800"/>
            <a:ext cx="26060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 (referral)</a:t>
            </a:r>
            <a:r>
              <a:rPr lang="en-US" sz="1200" dirty="0">
                <a:solidFill>
                  <a:srgbClr val="B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actually led every channel in 2023 — 129 signups vs. Facebook Ad's 104.
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Ad</a:t>
            </a:r>
            <a:r>
              <a:rPr lang="en-US" sz="1200" dirty="0">
                <a:solidFill>
                  <a:srgbClr val="B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only overtook it once paid ad spend scaled sharply in 2024.
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</a:t>
            </a:r>
            <a:r>
              <a:rPr lang="en-US" sz="1200" dirty="0">
                <a:solidFill>
                  <a:srgbClr val="B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has remained the smallest of the four throughout the full period.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2  •  REFERRAL IMPACT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3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Referral a Significant Acquisition Channel?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ACQUISITION KPI ANALYSIS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234440"/>
            <a:ext cx="3291840" cy="2103120"/>
          </a:xfrm>
          <a:prstGeom prst="roundRect">
            <a:avLst>
              <a:gd name="adj" fmla="val 4348"/>
            </a:avLst>
          </a:prstGeom>
          <a:solidFill>
            <a:srgbClr val="0B33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640080" y="14630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17.55%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3317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signups across 2023–2025 came through referral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35204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 largest channel of 10</a:t>
            </a: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ahead of every channel except the two paid ad platforms.</a:t>
            </a:r>
            <a:endParaRPr lang="en-US" sz="115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3977640" y="1234440"/>
          <a:ext cx="772668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Shape 8"/>
          <p:cNvSpPr/>
          <p:nvPr/>
        </p:nvSpPr>
        <p:spPr>
          <a:xfrm>
            <a:off x="3977640" y="4251960"/>
            <a:ext cx="7726680" cy="1691640"/>
          </a:xfrm>
          <a:prstGeom prst="roundRect">
            <a:avLst>
              <a:gd name="adj" fmla="val 4324"/>
            </a:avLst>
          </a:prstGeom>
          <a:solidFill>
            <a:srgbClr val="F4F7F9"/>
          </a:solidFill>
          <a:ln w="12700">
            <a:solidFill>
              <a:srgbClr val="E3E9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 txBox="1"/>
          <p:nvPr/>
        </p:nvSpPr>
        <p:spPr>
          <a:xfrm>
            <a:off x="4251960" y="4434840"/>
            <a:ext cx="7178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2024 dip doesn't mean referral got weaker — </a:t>
            </a:r>
            <a:r>
              <a:rPr lang="en-US" sz="120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reflects the surge in paid ad volume that year.</a:t>
            </a: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Friend's raw count actually rose in 2024 (145 vs. 129 in 2023); its share only fell because total signups</a:t>
            </a:r>
            <a:r>
              <a:rPr lang="en-US" sz="120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more than doubled.</a:t>
            </a: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Word-of-mouth is a genuine, non-trivial driver of new customers — not a marginal one.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3  •  AUDIENCE AGE PROFILE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3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Age Range Has Low Customer Counts, by Channel?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ACQUISITION KPI ANALYSIS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457200" y="1234440"/>
          <a:ext cx="7863840" cy="4709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4"/>
          <p:cNvSpPr/>
          <p:nvPr/>
        </p:nvSpPr>
        <p:spPr>
          <a:xfrm>
            <a:off x="8549640" y="1234440"/>
            <a:ext cx="3154680" cy="4709160"/>
          </a:xfrm>
          <a:prstGeom prst="roundRect">
            <a:avLst>
              <a:gd name="adj" fmla="val 2319"/>
            </a:avLst>
          </a:prstGeom>
          <a:solidFill>
            <a:srgbClr val="0B33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 txBox="1"/>
          <p:nvPr/>
        </p:nvSpPr>
        <p:spPr>
          <a:xfrm>
            <a:off x="8823960" y="14630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FINDING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8823960" y="1828800"/>
            <a:ext cx="26060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50–54</a:t>
            </a:r>
            <a:r>
              <a:rPr lang="en-US" sz="1200" dirty="0">
                <a:solidFill>
                  <a:srgbClr val="B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weakest substantial age group for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 the 4</a:t>
            </a:r>
            <a:r>
              <a:rPr lang="en-US" sz="1200" dirty="0">
                <a:solidFill>
                  <a:srgbClr val="B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top channels — Facebook Ad, Instagram Ad, and Friend all bottom out here.
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</a:t>
            </a:r>
            <a:r>
              <a:rPr lang="en-US" sz="1200" dirty="0">
                <a:solidFill>
                  <a:srgbClr val="B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one exception: its weakest group is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45–49</a:t>
            </a:r>
            <a:r>
              <a:rPr lang="en-US" sz="1200" dirty="0">
                <a:solidFill>
                  <a:srgbClr val="B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instead.
This only became visible by breaking the age distribution down by channel — the whole-dataset view alone doesn't show which channel the gap belongs to.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4  •  AUDIENCE COMPOSITION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3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Male vs. Female Signups, Year on Year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ACQUISITION KPI ANALYSIS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1887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SHARE BY YEAR</a:t>
            </a:r>
            <a:endParaRPr lang="en-US" sz="11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457200" y="1481328"/>
          <a:ext cx="7863840" cy="2423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5"/>
          <p:cNvSpPr txBox="1"/>
          <p:nvPr/>
        </p:nvSpPr>
        <p:spPr>
          <a:xfrm>
            <a:off x="457200" y="41605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YEAR-ON-YEAR % CHANGE (ADDED)</a:t>
            </a:r>
            <a:endParaRPr lang="en-US" sz="1100" dirty="0"/>
          </a:p>
        </p:txBody>
      </p:sp>
      <p:graphicFrame>
        <p:nvGraphicFramePr>
          <p:cNvPr id="10" name="Chart 1"/>
          <p:cNvGraphicFramePr/>
          <p:nvPr/>
        </p:nvGraphicFramePr>
        <p:xfrm>
          <a:off x="457200" y="4453128"/>
          <a:ext cx="7863840" cy="1600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Shape 6"/>
          <p:cNvSpPr/>
          <p:nvPr/>
        </p:nvSpPr>
        <p:spPr>
          <a:xfrm>
            <a:off x="8549640" y="1188720"/>
            <a:ext cx="3154680" cy="4892040"/>
          </a:xfrm>
          <a:prstGeom prst="roundRect">
            <a:avLst>
              <a:gd name="adj" fmla="val 2319"/>
            </a:avLst>
          </a:prstGeom>
          <a:solidFill>
            <a:srgbClr val="F4F7F9"/>
          </a:solidFill>
          <a:ln w="12700">
            <a:solidFill>
              <a:srgbClr val="E3E9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7"/>
          <p:cNvSpPr txBox="1"/>
          <p:nvPr/>
        </p:nvSpPr>
        <p:spPr>
          <a:xfrm>
            <a:off x="8823960" y="14173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VIEWS, ONE CONCLUSION</a:t>
            </a:r>
            <a:endParaRPr lang="en-US" sz="1050" dirty="0"/>
          </a:p>
        </p:txBody>
      </p:sp>
      <p:sp>
        <p:nvSpPr>
          <p:cNvPr id="13" name="Text 8"/>
          <p:cNvSpPr txBox="1"/>
          <p:nvPr/>
        </p:nvSpPr>
        <p:spPr>
          <a:xfrm>
            <a:off x="8823960" y="1783080"/>
            <a:ext cx="26060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% share has held at a roughly </a:t>
            </a:r>
            <a:r>
              <a:rPr lang="en-US" sz="115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2:1 ratio</a:t>
            </a: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across all three years, drifting only about </a:t>
            </a:r>
            <a:r>
              <a:rPr lang="en-US" sz="115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percentage point</a:t>
            </a: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toward male.
The YoY chart below it shows raw counts swinging heavily — but </a:t>
            </a:r>
            <a:r>
              <a:rPr lang="en-US" sz="115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genders move in near-identical proportion</a:t>
            </a: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which confirms the swing tracks overall signup volume, not a real shift in gender balance. The two views reinforce the same conclusion rather than conflicting.</a:t>
            </a:r>
            <a:endParaRPr lang="en-US" sz="1150" dirty="0"/>
          </a:p>
        </p:txBody>
      </p:sp>
      <p:sp>
        <p:nvSpPr>
          <p:cNvPr id="14" name="Text 9"/>
          <p:cNvSpPr txBox="1"/>
          <p:nvPr/>
        </p:nvSpPr>
        <p:spPr>
          <a:xfrm>
            <a:off x="457200" y="61264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figures exclude records where gender was not provided (under 1% of the dataset). 2023 has no prior year to compare against, so it's excluded from the YoY view.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5  •  AUDIENCE PROFILE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3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Education Levels &amp; Countries to Focus On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ACQUISITION KPI ANALYSIS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457200" y="1234440"/>
          <a:ext cx="6309360" cy="4709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4"/>
          <p:cNvSpPr/>
          <p:nvPr/>
        </p:nvSpPr>
        <p:spPr>
          <a:xfrm>
            <a:off x="7040880" y="1234440"/>
            <a:ext cx="4663440" cy="4709160"/>
          </a:xfrm>
          <a:prstGeom prst="roundRect">
            <a:avLst>
              <a:gd name="adj" fmla="val 1569"/>
            </a:avLst>
          </a:prstGeom>
          <a:solidFill>
            <a:srgbClr val="0B33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 txBox="1"/>
          <p:nvPr/>
        </p:nvSpPr>
        <p:spPr>
          <a:xfrm>
            <a:off x="7315200" y="146304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77.2%</a:t>
            </a:r>
            <a:endParaRPr lang="en-US" sz="3200" dirty="0"/>
          </a:p>
        </p:txBody>
      </p:sp>
      <p:sp>
        <p:nvSpPr>
          <p:cNvPr id="10" name="Text 6"/>
          <p:cNvSpPr txBox="1"/>
          <p:nvPr/>
        </p:nvSpPr>
        <p:spPr>
          <a:xfrm>
            <a:off x="7315200" y="21488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signups hold a First Degree or Masters Degree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7315200" y="2697480"/>
            <a:ext cx="411480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 txBox="1"/>
          <p:nvPr/>
        </p:nvSpPr>
        <p:spPr>
          <a:xfrm>
            <a:off x="7315200" y="2880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THEY'RE FROM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7315200" y="3200400"/>
            <a:ext cx="4114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Degree: </a:t>
            </a:r>
            <a:r>
              <a:rPr lang="en-US" sz="1150" dirty="0">
                <a:solidFill>
                  <a:srgbClr val="B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91.3% Nigeria, then United Kingdom
</a:t>
            </a: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Masters Degree: </a:t>
            </a:r>
            <a:r>
              <a:rPr lang="en-US" sz="1150" dirty="0">
                <a:solidFill>
                  <a:srgbClr val="B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85.8% Nigeria, then United Kingdom
Reporting “Nigeria” alone understates this — it dominates almost every cut of the data (88.6% overall). The real insight is this specific pairing of country with education level.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3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 &amp; Recommendations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ACQUISITION KPI ANALYSIS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23444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4F7F9"/>
          </a:solidFill>
          <a:ln w="12700">
            <a:solidFill>
              <a:srgbClr val="E3E9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85800" y="1463040"/>
            <a:ext cx="365760" cy="36576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68580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188720" y="138074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Referral is underleveraged, not insignificant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188720" y="1856232"/>
            <a:ext cx="44805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2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17.55% of signups, 3rd largest channel — yet it led every channel in 2023. Worth formal investment (a referral program), not just passive reliance.</a:t>
            </a:r>
            <a:endParaRPr lang="en-US" sz="1020" dirty="0"/>
          </a:p>
        </p:txBody>
      </p:sp>
      <p:sp>
        <p:nvSpPr>
          <p:cNvPr id="12" name="Shape 9"/>
          <p:cNvSpPr/>
          <p:nvPr/>
        </p:nvSpPr>
        <p:spPr>
          <a:xfrm>
            <a:off x="6263640" y="123444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4F7F9"/>
          </a:solidFill>
          <a:ln w="12700">
            <a:solidFill>
              <a:srgbClr val="E3E9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492240" y="1463040"/>
            <a:ext cx="365760" cy="36576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649224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995160" y="138074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Paid ad growth diluted referral's share, not its strength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6995160" y="1856232"/>
            <a:ext cx="44805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2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Friend's raw count rose in 2024; only its % share fell, as paid ad spend scaled the total pool. Track share and raw count separately going forward.</a:t>
            </a:r>
            <a:endParaRPr lang="en-US" sz="1020" dirty="0"/>
          </a:p>
        </p:txBody>
      </p:sp>
      <p:sp>
        <p:nvSpPr>
          <p:cNvPr id="17" name="Shape 14"/>
          <p:cNvSpPr/>
          <p:nvPr/>
        </p:nvSpPr>
        <p:spPr>
          <a:xfrm>
            <a:off x="457200" y="288036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4F7F9"/>
          </a:solidFill>
          <a:ln w="12700">
            <a:solidFill>
              <a:srgbClr val="E3E9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685800" y="3108960"/>
            <a:ext cx="365760" cy="36576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68580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1188720" y="302666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50–54 age gap is channel-specific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1188720" y="3502152"/>
            <a:ext cx="44805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2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Weakest for Facebook Ad, Instagram Ad, and Friend — but YouTube's gap sits at 45–49 instead. A single blanket fix won't address both.</a:t>
            </a:r>
            <a:endParaRPr lang="en-US" sz="1020" dirty="0"/>
          </a:p>
        </p:txBody>
      </p:sp>
      <p:sp>
        <p:nvSpPr>
          <p:cNvPr id="22" name="Shape 19"/>
          <p:cNvSpPr/>
          <p:nvPr/>
        </p:nvSpPr>
        <p:spPr>
          <a:xfrm>
            <a:off x="6263640" y="288036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4F7F9"/>
          </a:solidFill>
          <a:ln w="12700">
            <a:solidFill>
              <a:srgbClr val="E3E9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6492240" y="3108960"/>
            <a:ext cx="365760" cy="36576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 txBox="1"/>
          <p:nvPr/>
        </p:nvSpPr>
        <p:spPr>
          <a:xfrm>
            <a:off x="649224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6995160" y="302666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Gender balance is stable — don't over-read short-term swings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6995160" y="3502152"/>
            <a:ext cx="44805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2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counts swing with traffic; the underlying ~2:1 split has barely moved in 3 years. Report share, not volume, when discussing gender trends.</a:t>
            </a:r>
            <a:endParaRPr lang="en-US" sz="1020" dirty="0"/>
          </a:p>
        </p:txBody>
      </p:sp>
      <p:sp>
        <p:nvSpPr>
          <p:cNvPr id="27" name="Shape 24"/>
          <p:cNvSpPr/>
          <p:nvPr/>
        </p:nvSpPr>
        <p:spPr>
          <a:xfrm>
            <a:off x="457200" y="452628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4F7F9"/>
          </a:solidFill>
          <a:ln w="12700">
            <a:solidFill>
              <a:srgbClr val="E3E9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685800" y="4754880"/>
            <a:ext cx="365760" cy="36576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 txBox="1"/>
          <p:nvPr/>
        </p:nvSpPr>
        <p:spPr>
          <a:xfrm>
            <a:off x="685800" y="4754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1188720" y="467258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Education + country is one finding, not two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1188720" y="5148072"/>
            <a:ext cx="44805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2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Degree and Masters holders are the core audience, overwhelmingly Nigeria-based. Marketing and product decisions should target this pairing directly.</a:t>
            </a:r>
            <a:endParaRPr lang="en-US" sz="1020" dirty="0"/>
          </a:p>
        </p:txBody>
      </p:sp>
      <p:sp>
        <p:nvSpPr>
          <p:cNvPr id="32" name="Shape 29"/>
          <p:cNvSpPr/>
          <p:nvPr/>
        </p:nvSpPr>
        <p:spPr>
          <a:xfrm>
            <a:off x="6263640" y="452628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4F7F9"/>
          </a:solidFill>
          <a:ln w="12700">
            <a:solidFill>
              <a:srgbClr val="E3E9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6492240" y="4754880"/>
            <a:ext cx="365760" cy="36576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 txBox="1"/>
          <p:nvPr/>
        </p:nvSpPr>
        <p:spPr>
          <a:xfrm>
            <a:off x="6492240" y="4754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6995160" y="467258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audit paid for itself before the KPIs were built</a:t>
            </a:r>
            <a:endParaRPr lang="en-US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6995160" y="5148072"/>
            <a:ext cx="44805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2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half the logged data issues needed no action once scoped to these 5 questions — scoping saved real effort without cutting any corners.</a:t>
            </a:r>
            <a:endParaRPr lang="en-US" sz="10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3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Notes &amp; Data Privacy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ACQUISITION KPI ANALYSIS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617220" y="14401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&amp; LIMITATIONS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87680" y="1609344"/>
            <a:ext cx="5394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ts val="155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analysis is scoped specifically to the 5 KPIs above; several logged data issues were intentionally left unaddressed because no KPI required fixing them.</a:t>
            </a:r>
            <a:endParaRPr lang="en-US" sz="1100" dirty="0"/>
          </a:p>
          <a:p>
            <a:pPr marL="177800" indent="-177800">
              <a:lnSpc>
                <a:spcPts val="155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open question — whether repeated customer-ID submissions are </a:t>
            </a:r>
            <a:r>
              <a:rPr lang="en-US" sz="110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 legitimate </a:t>
            </a:r>
            <a:r>
              <a:rPr lang="en-US" sz="11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always accidental — was still awaiting confirmation from the data owner as of this report. The cleaning approach used is the best-evidence interpretation, documented as provisional.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172200" y="1234440"/>
            <a:ext cx="5532120" cy="4663440"/>
          </a:xfrm>
          <a:prstGeom prst="roundRect">
            <a:avLst>
              <a:gd name="adj" fmla="val 1569"/>
            </a:avLst>
          </a:prstGeom>
          <a:solidFill>
            <a:srgbClr val="F4F7F9"/>
          </a:solidFill>
          <a:ln w="12700">
            <a:solidFill>
              <a:srgbClr val="E3E9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6492240" y="146304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TECHNIQUE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6492240" y="18745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8092440" y="18745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(Power Query) — reusable steps, re-applies automatically on refresh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492240" y="2404872"/>
            <a:ext cx="4892040" cy="0"/>
          </a:xfrm>
          <a:prstGeom prst="line">
            <a:avLst/>
          </a:prstGeom>
          <a:noFill/>
          <a:ln w="9525">
            <a:solidFill>
              <a:srgbClr val="E3E9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6492240" y="249631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calculation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8092440" y="249631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PivotTables — every figure traceable to a formula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492240" y="3026664"/>
            <a:ext cx="4892040" cy="0"/>
          </a:xfrm>
          <a:prstGeom prst="line">
            <a:avLst/>
          </a:prstGeom>
          <a:noFill/>
          <a:ln w="9525">
            <a:solidFill>
              <a:srgbClr val="E3E9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6492240" y="3118104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&amp; visuals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8092440" y="3118104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— self-contained model built directly from raw data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492240" y="3648456"/>
            <a:ext cx="4892040" cy="0"/>
          </a:xfrm>
          <a:prstGeom prst="line">
            <a:avLst/>
          </a:prstGeom>
          <a:noFill/>
          <a:ln w="9525">
            <a:solidFill>
              <a:srgbClr val="E3E9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6492240" y="3739896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navigation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8092440" y="3739896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Button-based page navigation between each KPI and a summary view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6492240" y="4270248"/>
            <a:ext cx="4892040" cy="0"/>
          </a:xfrm>
          <a:prstGeom prst="line">
            <a:avLst/>
          </a:prstGeom>
          <a:noFill/>
          <a:ln w="9525">
            <a:solidFill>
              <a:srgbClr val="E3E9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 txBox="1"/>
          <p:nvPr/>
        </p:nvSpPr>
        <p:spPr>
          <a:xfrm>
            <a:off x="6492240" y="436168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method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8092440" y="436168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fix and KPI checked against a predicted number before being trusted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33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-1645920" y="4389120"/>
            <a:ext cx="2011680" cy="2011680"/>
          </a:xfrm>
          <a:prstGeom prst="ellipse">
            <a:avLst/>
          </a:prstGeom>
          <a:ln w="17780">
            <a:solidFill>
              <a:srgbClr val="1C729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-2212848" y="3822192"/>
            <a:ext cx="3145536" cy="3145536"/>
          </a:xfrm>
          <a:prstGeom prst="ellipse">
            <a:avLst/>
          </a:prstGeom>
          <a:ln w="17780">
            <a:solidFill>
              <a:srgbClr val="F2A541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-2779776" y="3255264"/>
            <a:ext cx="4279392" cy="4279392"/>
          </a:xfrm>
          <a:prstGeom prst="ellipse">
            <a:avLst/>
          </a:prstGeom>
          <a:ln w="17780">
            <a:solidFill>
              <a:srgbClr val="1C729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-3346704" y="2688336"/>
            <a:ext cx="5413248" cy="5413248"/>
          </a:xfrm>
          <a:prstGeom prst="ellipse">
            <a:avLst/>
          </a:prstGeom>
          <a:ln w="17780">
            <a:solidFill>
              <a:srgbClr val="F2A541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822960" y="265176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4290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22960" y="4023360"/>
            <a:ext cx="1828800" cy="0"/>
          </a:xfrm>
          <a:prstGeom prst="line">
            <a:avLst/>
          </a:prstGeom>
          <a:noFill/>
          <a:ln w="3175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822960" y="42519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Team  •  Customer Acquisition KPI Analysis  •  2023–2025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1736</Words>
  <Application>Microsoft Office PowerPoint</Application>
  <PresentationFormat>Widescreen</PresentationFormat>
  <Paragraphs>151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2026-09-19T20:19:22Z</dcterms:created>
  <dcterms:modified xsi:type="dcterms:W3CDTF">2026-09-19T20:19:31Z</dcterms:modified>
</cp:coreProperties>
</file>